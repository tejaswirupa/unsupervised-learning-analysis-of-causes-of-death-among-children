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2"/>
  </p:notesMasterIdLst>
  <p:sldIdLst>
    <p:sldId id="257" r:id="rId2"/>
    <p:sldId id="283" r:id="rId3"/>
    <p:sldId id="269" r:id="rId4"/>
    <p:sldId id="270" r:id="rId5"/>
    <p:sldId id="274" r:id="rId6"/>
    <p:sldId id="288" r:id="rId7"/>
    <p:sldId id="278" r:id="rId8"/>
    <p:sldId id="279" r:id="rId9"/>
    <p:sldId id="280" r:id="rId10"/>
    <p:sldId id="281" r:id="rId11"/>
    <p:sldId id="282" r:id="rId12"/>
    <p:sldId id="297" r:id="rId13"/>
    <p:sldId id="272" r:id="rId14"/>
    <p:sldId id="289" r:id="rId15"/>
    <p:sldId id="290" r:id="rId16"/>
    <p:sldId id="291" r:id="rId17"/>
    <p:sldId id="293" r:id="rId18"/>
    <p:sldId id="277" r:id="rId19"/>
    <p:sldId id="296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FB330-1161-54DE-423A-F22BEA26D906}" v="1847" dt="2024-06-08T00:21:03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3AEB6-E3FD-4C17-82C3-3FF6C8519791}" type="datetimeFigureOut"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6C47B-07B9-4715-8E26-10FD5D6F95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2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594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1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4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87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0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0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4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8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5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6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grapher/national-gdp-constant-usd-wb?tab=table" TargetMode="External"/><Relationship Id="rId2" Type="http://schemas.openxmlformats.org/officeDocument/2006/relationships/hyperlink" Target="https://ourworldindata.org/diarrheal-disease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3276A9-FAD0-FFBF-9BA7-881917F19163}"/>
              </a:ext>
            </a:extLst>
          </p:cNvPr>
          <p:cNvSpPr txBox="1"/>
          <p:nvPr/>
        </p:nvSpPr>
        <p:spPr>
          <a:xfrm>
            <a:off x="837389" y="1100286"/>
            <a:ext cx="1050565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latin typeface="Times New Roman"/>
                <a:cs typeface="Calibri Light"/>
              </a:rPr>
              <a:t>Analysis of causes of death in children under 5</a:t>
            </a:r>
            <a:br>
              <a:rPr lang="en-US" sz="8000" b="1">
                <a:latin typeface="Times New Roman"/>
                <a:cs typeface="Calibri Light"/>
              </a:rPr>
            </a:br>
            <a:r>
              <a:rPr lang="en-US" sz="3000" b="1">
                <a:latin typeface="Times New Roman"/>
                <a:cs typeface="Calibri Light"/>
              </a:rPr>
              <a:t>Using supervised learning to find the key factors and trends</a:t>
            </a:r>
            <a:endParaRPr lang="en-US" sz="3000">
              <a:latin typeface="Times New Roman"/>
              <a:cs typeface="Calibri Light"/>
            </a:endParaRPr>
          </a:p>
          <a:p>
            <a:pPr algn="l"/>
            <a:endParaRPr lang="en-US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A90A8-D5F0-D7F2-1781-90BED02239C7}"/>
              </a:ext>
            </a:extLst>
          </p:cNvPr>
          <p:cNvSpPr txBox="1"/>
          <p:nvPr/>
        </p:nvSpPr>
        <p:spPr>
          <a:xfrm>
            <a:off x="7764871" y="3636519"/>
            <a:ext cx="357024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cap="all" baseline="0">
                <a:solidFill>
                  <a:srgbClr val="FFC000"/>
                </a:solidFill>
                <a:latin typeface="Aptos"/>
              </a:rPr>
              <a:t>GOLD GROUP:</a:t>
            </a:r>
            <a:r>
              <a:rPr lang="en-US" sz="2500" b="1" cap="all" baseline="0">
                <a:solidFill>
                  <a:srgbClr val="CCDDEA"/>
                </a:solidFill>
                <a:latin typeface="Aptos"/>
              </a:rPr>
              <a:t> </a:t>
            </a:r>
            <a:endParaRPr lang="en-US" sz="250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r>
              <a:rPr lang="en-US" sz="2500" b="1" cap="all" baseline="0">
                <a:solidFill>
                  <a:srgbClr val="0070C0"/>
                </a:solidFill>
                <a:latin typeface="Aptos"/>
              </a:rPr>
              <a:t>NIDHI TRIVEDI, TEJASWI NEELAPU, </a:t>
            </a:r>
            <a:endParaRPr lang="en-US" sz="2500">
              <a:solidFill>
                <a:srgbClr val="000000"/>
              </a:solidFill>
              <a:latin typeface="Calibri" panose="020F0502020204030204"/>
              <a:cs typeface="Calibri"/>
            </a:endParaRPr>
          </a:p>
          <a:p>
            <a:pPr algn="l"/>
            <a:r>
              <a:rPr lang="en-US" sz="2500" b="1" cap="all" baseline="0">
                <a:solidFill>
                  <a:srgbClr val="0070C0"/>
                </a:solidFill>
                <a:latin typeface="Aptos"/>
              </a:rPr>
              <a:t>TILESHWAR NARAYAN</a:t>
            </a:r>
            <a:r>
              <a:rPr lang="en-US" sz="2500">
                <a:latin typeface="Aptos"/>
                <a:ea typeface="Aptos"/>
                <a:cs typeface="Aptos"/>
              </a:rPr>
              <a:t>​</a:t>
            </a:r>
            <a:endParaRPr lang="en-US" sz="25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050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Introduction: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Relationship between GDP and child mortality under 5 years old.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Economic development and health outcomes.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Classify the causes of death and evaluate their performance.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Predict number of deaths in 2019 using regression models.</a:t>
            </a:r>
            <a:endParaRPr lang="en-US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>
              <a:buFont typeface="Wingdings,Sans-Serif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,Sans-Serif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,Sans-Serif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12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269B-DA0A-F87C-CA2D-073AA534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baseline="0">
                <a:latin typeface="Times New Roman"/>
              </a:rPr>
              <a:t>Questions:</a:t>
            </a:r>
            <a:r>
              <a:rPr lang="en-US" sz="5000"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6A021-9D50-190A-F4FA-5D99EEE58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How does GDP correlate with the causes of death in children under 5 across different countries?</a:t>
            </a:r>
            <a:endParaRPr lang="en-US" sz="2400">
              <a:solidFill>
                <a:schemeClr val="tx1"/>
              </a:solidFill>
              <a:latin typeface="Times New Roman"/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Can GDP predict the occurrence of specific causes of death in children?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What is the relationship between economic development (measured by GDP) and child mortality rates from different causes?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Can the model predict the death rate for the following year based on past years child mortality rate?</a:t>
            </a:r>
          </a:p>
        </p:txBody>
      </p:sp>
    </p:spTree>
    <p:extLst>
      <p:ext uri="{BB962C8B-B14F-4D97-AF65-F5344CB8AC3E}">
        <p14:creationId xmlns:p14="http://schemas.microsoft.com/office/powerpoint/2010/main" val="226038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Data Collection and Preparation: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3163"/>
            <a:ext cx="10058400" cy="4434597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Causes of death in children under 5 from 1990 to 2019 was obtained from "Our World in Data", which was named as "Diarrheal Diseases".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GDP since 1960 to 2022 was obtained from "Our World in Data".</a:t>
            </a:r>
            <a:endParaRPr lang="en-US" sz="2400">
              <a:solidFill>
                <a:schemeClr val="tx1"/>
              </a:solidFill>
              <a:latin typeface="Calibri" panose="020F0502020204030204"/>
              <a:ea typeface="Calibri"/>
              <a:cs typeface="Calibri" panose="020F0502020204030204"/>
            </a:endParaRP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Combined the 1990-2019 causes of death data with the GDP data for each country for that particular year.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Few countries are grouped together, these were excluded. Example: 'World bank high income", "England".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Handled the missing values by replacing them with the mean.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Creating a new column using quartiles of GDP.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Ensure consistency and readability in diseases/causes names.</a:t>
            </a:r>
          </a:p>
          <a:p>
            <a:pPr>
              <a:buFont typeface="Wingdings,Sans-Serif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087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Exploratory Data Analysis: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Top 10 countries with highest deaths.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Top 10 causes/diseases of death in children under 5 years.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The distribution of diseases by GDP class.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Analyzing the mean number of deaths across different GDP classes.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Trends over the years for top 10 diseases/causes. 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Specifically looking at Encephalopathy, Malaria, other Neonatal, Sepsis.</a:t>
            </a:r>
          </a:p>
          <a:p>
            <a:pPr>
              <a:buFont typeface="Wingdings,Sans-Serif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Relationship between GDP and deaths for top 10 causes.</a:t>
            </a: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,Sans-Serif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503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deaths&#10;&#10;Description automatically generated">
            <a:extLst>
              <a:ext uri="{FF2B5EF4-FFF2-40B4-BE49-F238E27FC236}">
                <a16:creationId xmlns:a16="http://schemas.microsoft.com/office/drawing/2014/main" id="{F491FA66-CE64-A2C6-C668-95E5EE638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17" y="0"/>
            <a:ext cx="9769862" cy="628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6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umber of deaths&#10;&#10;Description automatically generated">
            <a:extLst>
              <a:ext uri="{FF2B5EF4-FFF2-40B4-BE49-F238E27FC236}">
                <a16:creationId xmlns:a16="http://schemas.microsoft.com/office/drawing/2014/main" id="{63659BB7-E038-BBDF-0C8F-6ADD7717A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-4989"/>
            <a:ext cx="116776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77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various causes of death&#10;&#10;Description automatically generated">
            <a:extLst>
              <a:ext uri="{FF2B5EF4-FFF2-40B4-BE49-F238E27FC236}">
                <a16:creationId xmlns:a16="http://schemas.microsoft.com/office/drawing/2014/main" id="{75CE67FB-3702-435F-1C3D-0EFB6BE6A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85" y="150964"/>
            <a:ext cx="10240736" cy="61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43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2BEE39C-643A-18BE-54B9-2BF10090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85296"/>
            <a:ext cx="110299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FF77D0-74D6-3D2C-7791-D6FE56CC4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55" y="-1133"/>
            <a:ext cx="6115806" cy="3219602"/>
          </a:xfrm>
          <a:prstGeom prst="rect">
            <a:avLst/>
          </a:prstGeom>
        </p:spPr>
      </p:pic>
      <p:pic>
        <p:nvPicPr>
          <p:cNvPr id="3" name="Picture 2" descr="A graph of death due to malaria over years&#10;&#10;Description automatically generated">
            <a:extLst>
              <a:ext uri="{FF2B5EF4-FFF2-40B4-BE49-F238E27FC236}">
                <a16:creationId xmlns:a16="http://schemas.microsoft.com/office/drawing/2014/main" id="{943FCD47-7642-D2E9-1DF4-939DDDDDF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240" y="-1133"/>
            <a:ext cx="6115806" cy="32196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9912A0-3942-299B-AF66-17DF2263E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55" y="3216200"/>
            <a:ext cx="6115806" cy="3219602"/>
          </a:xfrm>
          <a:prstGeom prst="rect">
            <a:avLst/>
          </a:prstGeom>
        </p:spPr>
      </p:pic>
      <p:pic>
        <p:nvPicPr>
          <p:cNvPr id="5" name="Picture 4" descr="A graph of death due to sepsis over years&#10;&#10;Description automatically generated">
            <a:extLst>
              <a:ext uri="{FF2B5EF4-FFF2-40B4-BE49-F238E27FC236}">
                <a16:creationId xmlns:a16="http://schemas.microsoft.com/office/drawing/2014/main" id="{78AD893F-0B76-E4F7-FEE6-1CE53EA21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240" y="3216200"/>
            <a:ext cx="6115806" cy="32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2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3BD687-CA8E-C814-D2FE-592611FDE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33438"/>
            <a:ext cx="118872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9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Theoretical Background: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61068"/>
            <a:ext cx="10445447" cy="4507168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GDP: Economic performance measure, total value of goods/services.</a:t>
            </a: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Child Mortality: Deaths under age 5, indicator of health and development.</a:t>
            </a: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Economic growth improves health outcomes.</a:t>
            </a: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Key for policy-making to reduce child mortality.</a:t>
            </a:r>
            <a:endParaRPr lang="en-US" sz="240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Causes of Death Data: 1990-2019, various causes of child mortality.</a:t>
            </a:r>
            <a:endParaRPr lang="en-US" sz="240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GDP Data: 1990-2019, economic changes over time.</a:t>
            </a:r>
            <a:endParaRPr lang="en-US" sz="240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Classification Methods: Categorize causes of death, assess GDP impact.</a:t>
            </a:r>
            <a:endParaRPr lang="en-US" sz="240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Regression Methods: Predict 2019 deaths, compare with actual data.</a:t>
            </a:r>
            <a:endParaRPr lang="en-US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02794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Model Selection and Application: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08591"/>
            <a:ext cx="5050972" cy="4083836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Random Forest Classifier: Grid search cv to find best parameters; model performance with accuracy; confusion matrix; decision tree and feature importance.</a:t>
            </a:r>
            <a:endParaRPr lang="en-US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Accuracy: 96.6%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Important Variables: Congenital diseases, Neoplasms, Other Neonatal.</a:t>
            </a: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891D3-8159-91AF-A772-C60752D0D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922" y="2212296"/>
            <a:ext cx="5488064" cy="321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49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Model Selection and Application: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08591"/>
            <a:ext cx="5050972" cy="4083836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Bagging: Grid search cv to find best parameters; model performance with accuracy; confusion matrix; decision tree and feature importance.</a:t>
            </a:r>
            <a:endParaRPr lang="en-US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Accuracy: 95.8%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Important Variables: Neoplasms, Preterm, Congenital.</a:t>
            </a: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graph with blue rectangles&#10;&#10;Description automatically generated">
            <a:extLst>
              <a:ext uri="{FF2B5EF4-FFF2-40B4-BE49-F238E27FC236}">
                <a16:creationId xmlns:a16="http://schemas.microsoft.com/office/drawing/2014/main" id="{625A0656-6A86-5B5D-1849-11C1B6867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693" y="2212295"/>
            <a:ext cx="5558519" cy="332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6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Model Selection and Application: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08591"/>
            <a:ext cx="5050972" cy="4083836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Boosting: Grid search cv to find best parameters; model performance with accuracy; confusion matrix; decision tree and feature importance.</a:t>
            </a:r>
            <a:endParaRPr lang="en-US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Accuracy: 96.3%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Important Variables: Neoplasms, Preterm, Respiratory.</a:t>
            </a: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graph of blue rectangular bars&#10;&#10;Description automatically generated">
            <a:extLst>
              <a:ext uri="{FF2B5EF4-FFF2-40B4-BE49-F238E27FC236}">
                <a16:creationId xmlns:a16="http://schemas.microsoft.com/office/drawing/2014/main" id="{B32C8AA4-4CB1-59BF-9614-CAB0D19C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5" y="2212294"/>
            <a:ext cx="5514220" cy="324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59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Model Selection and Application: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900" y="2208591"/>
            <a:ext cx="5377543" cy="4083836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Random Forest Regressor: Grid search cv to find best parameters; model performance with mean squared error, mean absolute error, R-squared.</a:t>
            </a:r>
            <a:endParaRPr lang="en-US" sz="2400">
              <a:solidFill>
                <a:schemeClr val="tx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MSE = 525904.2801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MAE = 138.2279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R-squared = 0.9432</a:t>
            </a: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F1D05E43-04FE-891C-6A52-9B25DEBAF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531" y="2203601"/>
            <a:ext cx="6281512" cy="316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7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Model Selection and Application: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900" y="2208591"/>
            <a:ext cx="5377543" cy="4083836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Decision Tree Regressor: Grid search cv to find best parameters; model performance with mean squared error, mean absolute error, R-squared.</a:t>
            </a:r>
            <a:endParaRPr lang="en-US" sz="2400">
              <a:solidFill>
                <a:schemeClr val="tx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MSE = 1668201.5326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MAE = 191.1044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R-squared = 0.8928</a:t>
            </a: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 panose="020F0502020204030204" pitchFamily="34" charset="0"/>
              <a:buChar char="Ø"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9F418EFA-0AA1-BDB5-0115-91F6E4DA4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530" y="2203602"/>
            <a:ext cx="6281512" cy="321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99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Conclusions: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61068"/>
            <a:ext cx="10445447" cy="4507168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The analysis showed a significant relationship between GDP and child deaths under 5 years old. Higher GDP levels are corresponding to lower death rates.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Among classification models, Random Forest Classifier was found to be the best with higher accuracy.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Among regression models, Random Forest Regressor was found to be the best with higher R-squared.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The improving economic conditions (GDP growth) can significantly reduce child death rates. Policymakers should focus on economic policies that can allocate resources towards improving healthcare facilities and services for children.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For future work, more features like healthcare system, education can be included to make more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2579643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961-4DCE-EB54-F56E-B60B4618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5000" b="1">
                <a:latin typeface="Times New Roman"/>
                <a:cs typeface="Times New Roman"/>
              </a:rPr>
              <a:t>References:</a:t>
            </a:r>
            <a:r>
              <a:rPr lang="en-US" sz="5000">
                <a:latin typeface="Times New Roman"/>
                <a:cs typeface="Times New Roman"/>
              </a:rPr>
              <a:t> </a:t>
            </a:r>
            <a:endParaRPr lang="en-US" sz="5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54C9-BAF6-B84D-AA7E-F9CAE0E6C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61068"/>
            <a:ext cx="10445447" cy="4507168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Diarrheal Diseases by Saloni Dattani, Fiona Spooner, Hannah Ritchie and Max Roser. 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https://ourworldindata.org/diarrheal-diseases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 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Gross Domestic Product (GDP). Our World in Data.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https://ourworldindata.org/grapher/national-gdp-constant-usd-wb?tab=table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  </a:t>
            </a:r>
            <a:endParaRPr lang="en-US" sz="24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6171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A38E14-DE3F-821E-1E24-C0C8CADB509C}"/>
              </a:ext>
            </a:extLst>
          </p:cNvPr>
          <p:cNvSpPr txBox="1"/>
          <p:nvPr/>
        </p:nvSpPr>
        <p:spPr>
          <a:xfrm>
            <a:off x="3649569" y="2253070"/>
            <a:ext cx="490381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 b="1">
                <a:latin typeface="Times New Roman"/>
                <a:ea typeface="Calibri"/>
                <a:cs typeface="Calibri"/>
              </a:rPr>
              <a:t>Thank you!</a:t>
            </a:r>
            <a:endParaRPr lang="en-US" sz="7000" b="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22599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Retrospect</vt:lpstr>
      <vt:lpstr>PowerPoint Presentation</vt:lpstr>
      <vt:lpstr>Introduction: </vt:lpstr>
      <vt:lpstr>Questions:​</vt:lpstr>
      <vt:lpstr>Data Collection and Preparation: </vt:lpstr>
      <vt:lpstr>Exploratory Data Analysis: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Theoretical Background: </vt:lpstr>
      <vt:lpstr>Model Selection and Application: </vt:lpstr>
      <vt:lpstr>Model Selection and Application: </vt:lpstr>
      <vt:lpstr>Model Selection and Application: </vt:lpstr>
      <vt:lpstr>Model Selection and Application: </vt:lpstr>
      <vt:lpstr>Model Selection and Application: </vt:lpstr>
      <vt:lpstr>Conclusions: </vt:lpstr>
      <vt:lpstr>References: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3</cp:revision>
  <dcterms:created xsi:type="dcterms:W3CDTF">2024-06-07T06:33:43Z</dcterms:created>
  <dcterms:modified xsi:type="dcterms:W3CDTF">2025-04-17T07:46:43Z</dcterms:modified>
</cp:coreProperties>
</file>